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f0c0c94f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f0c0c94f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Apresentar formalmente o trabalho, seus autores e, principalmente, seu tipo.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 que é uma SLR?</a:t>
            </a:r>
            <a:r>
              <a:rPr lang="en">
                <a:solidFill>
                  <a:schemeClr val="dk1"/>
                </a:solidFill>
              </a:rPr>
              <a:t> Explicar a importância de uma Revisão Sistemática. O que é. Diferente de um artigo que apresenta um novo experimento, uma SLR sintetiza o conhecimento de dezenas de outros trabalhos. Ela nos diz "o que sabemos", "o que não sabemos" e "para onde a pesquisa está indo". Isso a torna uma fonte de informação muito rica.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f0c0c94f9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f0c0c94f9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Demonstrar maturidade acadêmica, mostrando que o artigo foi escolhido com base em critérios de qualidade reconhecidos.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Decodificando "Q1":</a:t>
            </a:r>
            <a:r>
              <a:rPr lang="en">
                <a:solidFill>
                  <a:schemeClr val="dk1"/>
                </a:solidFill>
              </a:rPr>
              <a:t> Explicar o que significa um periódico ser "Q1". Significa que ele está no grupo dos 25% melhores e mais citados do mundo em sua área. Isso, segundo as regras da CAPES, garante a nota máxima (A1 ou A2) para a publicação.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Alinhamento Estratégico:</a:t>
            </a:r>
            <a:r>
              <a:rPr lang="en">
                <a:solidFill>
                  <a:schemeClr val="dk1"/>
                </a:solidFill>
              </a:rPr>
              <a:t> Conecte os outros pontos. A CAPES incentiva pesquisas que saiam do "mundo da computação" e resolvam problemas reais em outras áreas. Este artigo faz exatamente isso. Além disso, o tema (IA e Dados) está no centro das prioridades de pesquisa atuais.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f0c0c94f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f0c0c94f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Weed control is carried out using various strategies, such as manual (use tools such as machetes and scythes); these are very slow, tedious, and costly processes applicable to small plots. Cultural (includes crop rotation, sowing distance, and short-cycle crops to reduce proliferation). Mechanical (uses agricultural machinery, such as tractors and weeding and hilling techniques). Chemical (application of herbicides, fungicides, and pesticides [19] according to weed growth stages (pre-seeding, pre-emergence, post-emergence)). Finally, biological (use natural enemies such as insects against certain weeds [4]).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mitigate these problems, the European Union (EU) has proposed restricting the use of herbicides in agriculture [3] and encouraging the adoption of new technologies, such as Precision Agriculture (PA)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f0c0c94f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f0c0c94f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f0c0c94f9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7f0c0c94f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Definir o escopo da revisão e o que a audiência pode esperar aprender com ela.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Visão Holística:</a:t>
            </a:r>
            <a:r>
              <a:rPr lang="en">
                <a:solidFill>
                  <a:schemeClr val="dk1"/>
                </a:solidFill>
              </a:rPr>
              <a:t> Enfatizar que os autores não olharam apenas para os algoritmos de IA. Eles analisaram a cadeia de solução de IoT de ponta a ponta: desde a captura do dado no campo (hardware) até a avaliação do resultado (software).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 "Porquê" da Revisão:</a:t>
            </a:r>
            <a:r>
              <a:rPr lang="en">
                <a:solidFill>
                  <a:schemeClr val="dk1"/>
                </a:solidFill>
              </a:rPr>
              <a:t> O objetivo principal não é apenas listar o que existe, mas sim encontrar os "gaps" – as perguntas que ainda não foram respondidas, os problemas que ainda não foram resolvidos. É isso que move a ciência para frente.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f0c0c94f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f0c0c94f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Reforçar a credibilidade do artigo, mostrando que suas conclusões são baseadas em evidências científicas de alta qualidade.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Rigor e Qualidade:</a:t>
            </a:r>
            <a:r>
              <a:rPr lang="en">
                <a:solidFill>
                  <a:schemeClr val="dk1"/>
                </a:solidFill>
              </a:rPr>
              <a:t> O ponto mais importante aqui é o critério de inclusão. Explicar que, ao filtrar apenas artigos de periódicos Q1 e Q2, os autores garantiram que sua análise se baseia no que há de melhor e mais confiável na pesquisa mundial sobre o tema. Isso evita que a revisão seja "contaminada" por estudos de baixa qualidade.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Of the 95 papers that passed the document selection phase, 14 papers (15%) are literature reviews, 4 (4%) focus on image dataset preparation, and 77 (81%) are original studies.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Atualidade:</a:t>
            </a:r>
            <a:r>
              <a:rPr lang="en">
                <a:solidFill>
                  <a:schemeClr val="dk1"/>
                </a:solidFill>
              </a:rPr>
              <a:t> O período </a:t>
            </a:r>
            <a:r>
              <a:rPr lang="en">
                <a:solidFill>
                  <a:schemeClr val="dk1"/>
                </a:solidFill>
              </a:rPr>
              <a:t>analizado</a:t>
            </a:r>
            <a:r>
              <a:rPr lang="en">
                <a:solidFill>
                  <a:schemeClr val="dk1"/>
                </a:solidFill>
              </a:rPr>
              <a:t> (até meados de 2024) mostra que esta é uma fotografia muito recente do campo de pesquisa.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"Então, o que essa análise dos 77 melhores artigos da área revelou? Vamos começar pelos resultados sobre o hardware, a parte física do sistema de IoT."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f0c0c94f9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f0c0c94f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Apresentar o estado da arte do hardware de captura de dados.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 Padrão de Fato:</a:t>
            </a:r>
            <a:r>
              <a:rPr lang="en">
                <a:solidFill>
                  <a:schemeClr val="dk1"/>
                </a:solidFill>
              </a:rPr>
              <a:t> A combinação "Drone DJI + Câmera RGB" é o ponto de partida para a maioria das pesquisas, principalmente por ser a opção mais acessível.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 Futuro é Multiespectral:</a:t>
            </a:r>
            <a:r>
              <a:rPr lang="en">
                <a:solidFill>
                  <a:schemeClr val="dk1"/>
                </a:solidFill>
              </a:rPr>
              <a:t> Explique a diferença de forma simples. A câmera RGB vê o mundo como nós. A câmera Multiespectral vê "assinaturas" de saúde da planta, captando luz infravermelha, por exemplo. Isso permite diferenciar plantas com muito mais precisão. A fusão de dados (combinar a imagem RGB com a multiespectral) é a fronteira da pesquisa, mas ainda é cara.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"Mas como vimos, não adianta ter o melhor equipamento se a coleta de dados não for bem planejada. O artigo também analisou como esses drones são operados no campo."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f0c0c94f9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7f0c0c94f9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Enfatizar que a aquisição de dados em IoT é uma ciência em si, cheia de variáveis a serem controladas.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 Trade-off:</a:t>
            </a:r>
            <a:r>
              <a:rPr lang="en">
                <a:solidFill>
                  <a:schemeClr val="dk1"/>
                </a:solidFill>
              </a:rPr>
              <a:t> Explique a relação de compromisso: voar baixo dá uma imagem incrível, com muitos detalhes (alta resolução), mas demora muito e gasta muita bateria para cobrir a lavoura. É um problema de otimização.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Controle de Variáveis:</a:t>
            </a:r>
            <a:r>
              <a:rPr lang="en">
                <a:solidFill>
                  <a:schemeClr val="dk1"/>
                </a:solidFill>
              </a:rPr>
              <a:t> Mencione que até o horário do dia importa. Isso mostra a sensibilidade do sistema e a necessidade de padronizar a coleta para que os dados sejam comparáveis.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Oportunidade de Pesquisa:</a:t>
            </a:r>
            <a:r>
              <a:rPr lang="en">
                <a:solidFill>
                  <a:schemeClr val="dk1"/>
                </a:solidFill>
              </a:rPr>
              <a:t> O fato de poucas culturas serem estudadas aponta para uma lacuna. Há espaço para aplicar essas técnicas em outras culturas relevantes para a nossa região.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"Uma vez que as imagens são coletadas da maneira correta, elas entram na fase mais trabalhosa e crítica do processo: a preparação para treinar os modelos de IA."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f0c0c94f9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f0c0c94f9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</a:t>
            </a:r>
            <a:r>
              <a:rPr b="1" lang="en">
                <a:solidFill>
                  <a:schemeClr val="dk1"/>
                </a:solidFill>
              </a:rPr>
              <a:t>bjetivo do Slide:</a:t>
            </a:r>
            <a:r>
              <a:rPr lang="en">
                <a:solidFill>
                  <a:schemeClr val="dk1"/>
                </a:solidFill>
              </a:rPr>
              <a:t> Explicar qual é o maior obstáculo prático no desenvolvimento desses sistemas de 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 Trabalho Humano por Trás da IA:</a:t>
            </a:r>
            <a:r>
              <a:rPr lang="en">
                <a:solidFill>
                  <a:schemeClr val="dk1"/>
                </a:solidFill>
              </a:rPr>
              <a:t> Desmistificar a IA. Ela não aprende sozinha do nada. Ela aprende com exemplos que os humanos fornecem. O processo de fornecer esses exemplos é a "anotação".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Impacto do Gargalo:</a:t>
            </a:r>
            <a:r>
              <a:rPr lang="en">
                <a:solidFill>
                  <a:schemeClr val="dk1"/>
                </a:solidFill>
              </a:rPr>
              <a:t> Enfatizar como esse processo lento e caro impede o avanço mais rápido da área. É o principal motivo pelo qual não temos datasets públicos grandes e diversificados.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As "Soluções Criativas":</a:t>
            </a:r>
            <a:r>
              <a:rPr lang="en">
                <a:solidFill>
                  <a:schemeClr val="dk1"/>
                </a:solidFill>
              </a:rPr>
              <a:t> Explicar que, como faltam dados, os pesquisadores "criam" mais dados a partir dos poucos que têm. O </a:t>
            </a:r>
            <a:r>
              <a:rPr i="1" lang="en">
                <a:solidFill>
                  <a:schemeClr val="dk1"/>
                </a:solidFill>
              </a:rPr>
              <a:t>Data Augmentation</a:t>
            </a:r>
            <a:r>
              <a:rPr lang="en">
                <a:solidFill>
                  <a:schemeClr val="dk1"/>
                </a:solidFill>
              </a:rPr>
              <a:t> é como tirar uma foto e depois criar várias cópias dela com pequenas alterações (girada, com mais brilho, etc.) para enganar o modelo e fazê-lo pensar que são imagens novas.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"Superado esse imenso desafio de preparar os dados, finalmente pode-se treinar os modelos. Vamos ver quais algoritmos e arquiteturas se mostraram mais eficazes."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f0c0c94f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f0c0c94f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Apresentar as "ferramentas" de software mais importantes e explicar a diferença entre elas.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"Caixa de Ferramentas" da IA:</a:t>
            </a:r>
            <a:r>
              <a:rPr lang="en">
                <a:solidFill>
                  <a:schemeClr val="dk1"/>
                </a:solidFill>
              </a:rPr>
              <a:t> Use uma analogia. Diga que, dependendo do que você quer fazer, você usa uma ferramenta diferente.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ResNet (Classificação):</a:t>
            </a:r>
            <a:r>
              <a:rPr lang="en">
                <a:solidFill>
                  <a:schemeClr val="dk1"/>
                </a:solidFill>
              </a:rPr>
              <a:t> É como um "carimbo". Ele olha para a imagem e diz "tem erva daninha" ou "não tem". É rápido, mas não diz onde.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YOLO (Detecção):</a:t>
            </a:r>
            <a:r>
              <a:rPr lang="en">
                <a:solidFill>
                  <a:schemeClr val="dk1"/>
                </a:solidFill>
              </a:rPr>
              <a:t> É como um "detetive". Ele desenha uma caixa ao redor de cada erva daninha e diz "encontrei uma aqui, e outra aqui". É o mais popular porque é rápido e preciso o suficiente para a maioria das aplicações.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U-Net (Segmentação):</a:t>
            </a:r>
            <a:r>
              <a:rPr lang="en">
                <a:solidFill>
                  <a:schemeClr val="dk1"/>
                </a:solidFill>
              </a:rPr>
              <a:t> É como um "artista". Ele pinta o contorno exato de cada erva daninha. É o mais preciso, mas exige muito mais do computador.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"E por falar em exigir do computador, a escolha da arquitetura tem um impacto direto no hardware necessário e em como medimos o sucesso da tarefa."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f0c0c94f9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7f0c0c94f9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Fechar o ciclo, mostrando como o sistema é treinado, onde ele roda e como é avaliado.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Treino vs. Inferência:</a:t>
            </a:r>
            <a:r>
              <a:rPr lang="en">
                <a:solidFill>
                  <a:schemeClr val="dk1"/>
                </a:solidFill>
              </a:rPr>
              <a:t> Explique essa diferença fundamental. O </a:t>
            </a:r>
            <a:r>
              <a:rPr b="1" lang="en">
                <a:solidFill>
                  <a:schemeClr val="dk1"/>
                </a:solidFill>
              </a:rPr>
              <a:t>treinamento</a:t>
            </a:r>
            <a:r>
              <a:rPr lang="en">
                <a:solidFill>
                  <a:schemeClr val="dk1"/>
                </a:solidFill>
              </a:rPr>
              <a:t> é o processo pesado de ensinar o modelo, que acontece em servidores potentes. A </a:t>
            </a:r>
            <a:r>
              <a:rPr b="1" lang="en">
                <a:solidFill>
                  <a:schemeClr val="dk1"/>
                </a:solidFill>
              </a:rPr>
              <a:t>inferência</a:t>
            </a:r>
            <a:r>
              <a:rPr lang="en">
                <a:solidFill>
                  <a:schemeClr val="dk1"/>
                </a:solidFill>
              </a:rPr>
              <a:t> é o uso do modelo já treinado para fazer previsões no mundo real.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 Relevância do Edge AI para IoT:</a:t>
            </a:r>
            <a:r>
              <a:rPr lang="en">
                <a:solidFill>
                  <a:schemeClr val="dk1"/>
                </a:solidFill>
              </a:rPr>
              <a:t> Este é o ponto crucial para o tema da disciplina. O </a:t>
            </a:r>
            <a:r>
              <a:rPr i="1" lang="en">
                <a:solidFill>
                  <a:schemeClr val="dk1"/>
                </a:solidFill>
              </a:rPr>
              <a:t>Edge AI</a:t>
            </a:r>
            <a:r>
              <a:rPr lang="en">
                <a:solidFill>
                  <a:schemeClr val="dk1"/>
                </a:solidFill>
              </a:rPr>
              <a:t> é o que permite que o drone seja um sistema de IoT verdadeiramente autônomo. Sem ele, o drone seria apenas uma câmera voadora que envia dados para serem processados depois. Com ele, o drone </a:t>
            </a:r>
            <a:r>
              <a:rPr i="1" lang="en">
                <a:solidFill>
                  <a:schemeClr val="dk1"/>
                </a:solidFill>
              </a:rPr>
              <a:t>pensa</a:t>
            </a:r>
            <a:r>
              <a:rPr lang="en">
                <a:solidFill>
                  <a:schemeClr val="dk1"/>
                </a:solidFill>
              </a:rPr>
              <a:t> no campo.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Métricas na Prática:</a:t>
            </a:r>
            <a:r>
              <a:rPr lang="en">
                <a:solidFill>
                  <a:schemeClr val="dk1"/>
                </a:solidFill>
              </a:rPr>
              <a:t> Explique o que Precision e Recall significam de forma intuitiva. </a:t>
            </a:r>
            <a:r>
              <a:rPr b="1" lang="en">
                <a:solidFill>
                  <a:schemeClr val="dk1"/>
                </a:solidFill>
              </a:rPr>
              <a:t>Precision:</a:t>
            </a:r>
            <a:r>
              <a:rPr lang="en">
                <a:solidFill>
                  <a:schemeClr val="dk1"/>
                </a:solidFill>
              </a:rPr>
              <a:t> "Não quero cometer alarmes falsos" (não quero pulverizar uma planta de milho por engano). </a:t>
            </a:r>
            <a:r>
              <a:rPr b="1" lang="en">
                <a:solidFill>
                  <a:schemeClr val="dk1"/>
                </a:solidFill>
              </a:rPr>
              <a:t>Recall:</a:t>
            </a:r>
            <a:r>
              <a:rPr lang="en">
                <a:solidFill>
                  <a:schemeClr val="dk1"/>
                </a:solidFill>
              </a:rPr>
              <a:t> "Não quero deixar nenhuma erva daninha passar" (quero encontrar todas elas). O mAP é uma métrica que busca o equilíbrio entre os dois.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"Analisando todos esses resultados em conjunto, o artigo nos permite ter uma visão panorâmica e discutir as principais conclusões sobre o estado da arte."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f0c0c94f9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f0c0c94f9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Sintetizar os resultados em insights acionáveis e reforçar os pontos mais importantes da revisão.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 Grande Foto:</a:t>
            </a:r>
            <a:r>
              <a:rPr lang="en">
                <a:solidFill>
                  <a:schemeClr val="dk1"/>
                </a:solidFill>
              </a:rPr>
              <a:t> A principal contribuição do artigo é essa "grande foto". Ele conecta os pontos e nos mostra onde estão os problemas.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Reitere os 3 Desafios:</a:t>
            </a:r>
            <a:r>
              <a:rPr lang="en">
                <a:solidFill>
                  <a:schemeClr val="dk1"/>
                </a:solidFill>
              </a:rPr>
              <a:t> Reforce os três gargalos. Eles são a espinha dorsal da discussão. Use-os para mostrar que a área ainda tem muito a evoluir. O problema não está mais em criar um algoritmo que funcione no laboratório, mas sim em criar um que seja </a:t>
            </a:r>
            <a:r>
              <a:rPr b="1" lang="en">
                <a:solidFill>
                  <a:schemeClr val="dk1"/>
                </a:solidFill>
              </a:rPr>
              <a:t>barato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fácil de treinar</a:t>
            </a:r>
            <a:r>
              <a:rPr lang="en">
                <a:solidFill>
                  <a:schemeClr val="dk1"/>
                </a:solidFill>
              </a:rPr>
              <a:t> e </a:t>
            </a:r>
            <a:r>
              <a:rPr b="1" lang="en">
                <a:solidFill>
                  <a:schemeClr val="dk1"/>
                </a:solidFill>
              </a:rPr>
              <a:t>confiável no caos do mundo real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"Com base nesses desafios, o artigo não apenas aponta os problemas, mas também sugere os caminhos para as futuras pesquisas."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f0c0c94f9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f0c0c94f9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Objetivo do Slide:</a:t>
            </a:r>
            <a:r>
              <a:rPr lang="en">
                <a:solidFill>
                  <a:schemeClr val="dk1"/>
                </a:solidFill>
              </a:rPr>
              <a:t> Encerrar a análise do artigo e apontar para o futuro.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Diagnóstico Final:</a:t>
            </a:r>
            <a:r>
              <a:rPr lang="en">
                <a:solidFill>
                  <a:schemeClr val="dk1"/>
                </a:solidFill>
              </a:rPr>
              <a:t> A conclusão é um misto de otimismo e realismo. A tecnologia funciona, mas ainda não é prática ou barata o suficiente para a maioria dos agricultores.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 Caminho a Seguir:</a:t>
            </a:r>
            <a:r>
              <a:rPr lang="en">
                <a:solidFill>
                  <a:schemeClr val="dk1"/>
                </a:solidFill>
              </a:rPr>
              <a:t> As perspectivas futuras são um roteiro para novas pesquisas. O foco deve ser em </a:t>
            </a:r>
            <a:r>
              <a:rPr b="1" lang="en">
                <a:solidFill>
                  <a:schemeClr val="dk1"/>
                </a:solidFill>
              </a:rPr>
              <a:t>eficiência</a:t>
            </a:r>
            <a:r>
              <a:rPr lang="en">
                <a:solidFill>
                  <a:schemeClr val="dk1"/>
                </a:solidFill>
              </a:rPr>
              <a:t> (modelos mais leves), </a:t>
            </a:r>
            <a:r>
              <a:rPr b="1" lang="en">
                <a:solidFill>
                  <a:schemeClr val="dk1"/>
                </a:solidFill>
              </a:rPr>
              <a:t>democratização</a:t>
            </a:r>
            <a:r>
              <a:rPr lang="en">
                <a:solidFill>
                  <a:schemeClr val="dk1"/>
                </a:solidFill>
              </a:rPr>
              <a:t> (dados abertos) e, o mais importante para IoT, </a:t>
            </a:r>
            <a:r>
              <a:rPr b="1" lang="en">
                <a:solidFill>
                  <a:schemeClr val="dk1"/>
                </a:solidFill>
              </a:rPr>
              <a:t>ação</a:t>
            </a:r>
            <a:r>
              <a:rPr lang="en">
                <a:solidFill>
                  <a:schemeClr val="dk1"/>
                </a:solidFill>
              </a:rPr>
              <a:t> (integrar a detecção com a pulverização para fechar o ciclo de automação).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Conexão (para o próximo slide):</a:t>
            </a:r>
            <a:r>
              <a:rPr lang="en">
                <a:solidFill>
                  <a:schemeClr val="dk1"/>
                </a:solidFill>
              </a:rPr>
              <a:t> "E são justamente essas perspectivas futuras que se conectam diretamente com a proposta do meu projeto de pesquisa e demonstram a relevância deste artigo para o meu trabalho."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f0c0c94f9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7f0c0c94f9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1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Weed detection based on deep learning from UAV imagery: A review</a:t>
            </a:r>
            <a:endParaRPr b="0" sz="240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Aluno: Fábio Volkmann Coelho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Disciplina: Internet of Things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Artigo escolhido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Título do Artigo:</a:t>
            </a:r>
            <a:r>
              <a:rPr lang="en" sz="1400">
                <a:solidFill>
                  <a:srgbClr val="000000"/>
                </a:solidFill>
              </a:rPr>
              <a:t> Weed detection based on deep learning from UAV imagery: A review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Autores:</a:t>
            </a:r>
            <a:r>
              <a:rPr lang="en" sz="1400">
                <a:solidFill>
                  <a:srgbClr val="000000"/>
                </a:solidFill>
              </a:rPr>
              <a:t> Lucía Sandoval-Pillajo, et al.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Veículo:</a:t>
            </a:r>
            <a:r>
              <a:rPr lang="en" sz="1400">
                <a:solidFill>
                  <a:srgbClr val="000000"/>
                </a:solidFill>
              </a:rPr>
              <a:t> Smart Agricultural Technology, Volume 12, 2025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Tipo:</a:t>
            </a:r>
            <a:r>
              <a:rPr lang="en" sz="1400">
                <a:solidFill>
                  <a:srgbClr val="000000"/>
                </a:solidFill>
              </a:rPr>
              <a:t> Artigo de Revisão Sistemática da Literatura (SLR)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100" y="2501350"/>
            <a:ext cx="1522701" cy="20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Qualidade e Relevância Estratégica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Veículo de Publicação de Alto Impacto: Publicado no periódico </a:t>
            </a:r>
            <a:r>
              <a:rPr i="1" lang="en" sz="1700">
                <a:solidFill>
                  <a:srgbClr val="000000"/>
                </a:solidFill>
              </a:rPr>
              <a:t>Smart Agricultural Technology</a:t>
            </a:r>
            <a:r>
              <a:rPr lang="en" sz="1700">
                <a:solidFill>
                  <a:srgbClr val="000000"/>
                </a:solidFill>
              </a:rPr>
              <a:t> (Elsevier), classificado como Q1.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Atende ao critério de produção em periódicos de alto fator de impacto, garantindo uma classificação nos estratos superiores (A1/A2).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Relevância</a:t>
            </a:r>
            <a:r>
              <a:rPr lang="en" sz="1700">
                <a:solidFill>
                  <a:srgbClr val="000000"/>
                </a:solidFill>
              </a:rPr>
              <a:t> com o artigo final.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Interdisciplinaridade e impacto em outros setores (agronegócio).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841675" y="1597875"/>
            <a:ext cx="7492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Estimativa de crescimento populacional para 9 bilhões até 2050, ocasionando crescimento da produção </a:t>
            </a:r>
            <a:r>
              <a:rPr lang="en" sz="1800"/>
              <a:t>agrícola</a:t>
            </a:r>
            <a:r>
              <a:rPr lang="en" sz="1800"/>
              <a:t> em 70%;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Alguns problemas relacionados a esse crescimento: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Mudanças climáticas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Erosão do solo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Ervas daninhas</a:t>
            </a:r>
            <a:endParaRPr b="1"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Ervas daninha compete com as plantações em relação a água, nutrientes, fertilizante, espaço para crescimento e luz do sol.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098850"/>
            <a:ext cx="7030500" cy="3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Diversas formas de controle das ervas daninhas (Manual, Cultural, Mecânica, Químico e Biologico), sendo o químico o mais utilizado.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Para reduzir os impactos com o uso de herbicidas/pesticidas se propôs uma restrição ao uso, incentivando o uso de outras formas de controle, como por exemplo, o uso de drones.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 uso do drone serve para identificar e eliminar, pontualmente, a erva daninha, essa metodologia também é conhecida como </a:t>
            </a:r>
            <a:r>
              <a:rPr i="1" lang="en" sz="1900"/>
              <a:t>Site-Specific Weed Management</a:t>
            </a:r>
            <a:r>
              <a:rPr lang="en" sz="1900"/>
              <a:t> (SSWM).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do Trabalho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/>
              <a:t>Realizar uma Revisão Sistemática da Literatura (SLR).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/>
              <a:t>Analisar o ecossistema da solução: UAVs, sensores, processamento de imagens, arquiteturas de IA e métricas de avaliação.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/>
              <a:t>Identificar tendências, desafios, lacunas e oportunidades para pesquisas futuras.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Metodologia da Revisão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Fluxo de trabalho:</a:t>
            </a:r>
            <a:endParaRPr b="1"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</a:rPr>
              <a:t>Busca:</a:t>
            </a:r>
            <a:r>
              <a:rPr lang="en" sz="1900">
                <a:solidFill>
                  <a:srgbClr val="000000"/>
                </a:solidFill>
              </a:rPr>
              <a:t> 5 bases de dados (IEEE Xplore, ScienceDirect, SpringerLink, Scopus, e Web of Science).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</a:rPr>
              <a:t>Período:</a:t>
            </a:r>
            <a:r>
              <a:rPr lang="en" sz="1900">
                <a:solidFill>
                  <a:srgbClr val="000000"/>
                </a:solidFill>
              </a:rPr>
              <a:t> 2017 a Junho de 2024.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</a:rPr>
              <a:t>Critério de Inclusão:</a:t>
            </a:r>
            <a:r>
              <a:rPr lang="en" sz="1900">
                <a:solidFill>
                  <a:srgbClr val="000000"/>
                </a:solidFill>
              </a:rPr>
              <a:t> Apenas artigos de alto impacto (periódicos Q1 e</a:t>
            </a:r>
            <a:r>
              <a:rPr b="1" lang="en" sz="1900">
                <a:solidFill>
                  <a:srgbClr val="000000"/>
                </a:solidFill>
              </a:rPr>
              <a:t> </a:t>
            </a:r>
            <a:r>
              <a:rPr lang="en" sz="1900">
                <a:solidFill>
                  <a:srgbClr val="000000"/>
                </a:solidFill>
              </a:rPr>
              <a:t>Q2).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000000"/>
                </a:solidFill>
              </a:rPr>
              <a:t>Seleção Final:</a:t>
            </a:r>
            <a:r>
              <a:rPr lang="en" sz="1900">
                <a:solidFill>
                  <a:srgbClr val="000000"/>
                </a:solidFill>
              </a:rPr>
              <a:t> 77 artigos originais analisados.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Drones e Sensores Mais Utilizados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Drones:</a:t>
            </a:r>
            <a:r>
              <a:rPr lang="en" sz="1900">
                <a:solidFill>
                  <a:srgbClr val="000000"/>
                </a:solidFill>
              </a:rPr>
              <a:t> Domínio da marca DJI (81%).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Sensores:</a:t>
            </a:r>
            <a:r>
              <a:rPr lang="en" sz="1900">
                <a:solidFill>
                  <a:srgbClr val="000000"/>
                </a:solidFill>
              </a:rPr>
              <a:t> Predominância de câmeras RGB (71%).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Tendência:</a:t>
            </a:r>
            <a:r>
              <a:rPr lang="en" sz="1900">
                <a:solidFill>
                  <a:srgbClr val="000000"/>
                </a:solidFill>
              </a:rPr>
              <a:t> Transição para sensores Multiespectrais (MS) e fusão de dados de múltiplos sensores para maior precisão.</a:t>
            </a:r>
            <a:endParaRPr b="1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Parâmetros de Voo e Culturas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Altitude de Voo:</a:t>
            </a:r>
            <a:r>
              <a:rPr lang="en" sz="1900">
                <a:solidFill>
                  <a:srgbClr val="000000"/>
                </a:solidFill>
              </a:rPr>
              <a:t> Predominantemente baixas (2m a 10m).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Velocidade:</a:t>
            </a:r>
            <a:r>
              <a:rPr lang="en" sz="1900">
                <a:solidFill>
                  <a:srgbClr val="000000"/>
                </a:solidFill>
              </a:rPr>
              <a:t> Lenta (1 a 4.8 m/s) para evitar </a:t>
            </a:r>
            <a:r>
              <a:rPr i="1" lang="en" sz="1900">
                <a:solidFill>
                  <a:srgbClr val="000000"/>
                </a:solidFill>
              </a:rPr>
              <a:t>motion blur</a:t>
            </a:r>
            <a:r>
              <a:rPr lang="en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Horário Ideal:</a:t>
            </a:r>
            <a:r>
              <a:rPr lang="en" sz="1900">
                <a:solidFill>
                  <a:srgbClr val="000000"/>
                </a:solidFill>
              </a:rPr>
              <a:t> 11h às 14h para minimizar sombras.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Principais Culturas:</a:t>
            </a:r>
            <a:r>
              <a:rPr lang="en" sz="1900">
                <a:solidFill>
                  <a:srgbClr val="000000"/>
                </a:solidFill>
              </a:rPr>
              <a:t> Beterraba, milho, arroz e feijão.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Desafio da Preparação dos Dados</a:t>
            </a:r>
            <a:endParaRPr/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Anotação Manual:</a:t>
            </a:r>
            <a:r>
              <a:rPr lang="en" sz="1900">
                <a:solidFill>
                  <a:srgbClr val="000000"/>
                </a:solidFill>
              </a:rPr>
              <a:t> Processo crucial, mas lento, caro e propenso a erros. (Pode levar 10h para anotar uma imagem).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Ferramenta Mais Popular:</a:t>
            </a:r>
            <a:r>
              <a:rPr lang="en" sz="1900">
                <a:solidFill>
                  <a:srgbClr val="000000"/>
                </a:solidFill>
              </a:rPr>
              <a:t> LabelImg (33%).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Estratégias para Mitigar:</a:t>
            </a:r>
            <a:r>
              <a:rPr lang="en" sz="1900">
                <a:solidFill>
                  <a:srgbClr val="000000"/>
                </a:solidFill>
              </a:rPr>
              <a:t> Data Augmentation e geração de Dados Sintéticos. 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Arquiteturas de Deep Learning</a:t>
            </a:r>
            <a:endParaRPr/>
          </a:p>
        </p:txBody>
      </p:sp>
      <p:sp>
        <p:nvSpPr>
          <p:cNvPr id="338" name="Google Shape;338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Classificação:</a:t>
            </a:r>
            <a:r>
              <a:rPr lang="en" sz="1900">
                <a:solidFill>
                  <a:srgbClr val="000000"/>
                </a:solidFill>
              </a:rPr>
              <a:t> ResNet.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Detecção:</a:t>
            </a:r>
            <a:r>
              <a:rPr lang="en" sz="1900">
                <a:solidFill>
                  <a:srgbClr val="000000"/>
                </a:solidFill>
              </a:rPr>
              <a:t> YOLO (v5, v7, v8).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Segmentação:</a:t>
            </a:r>
            <a:r>
              <a:rPr lang="en" sz="1900">
                <a:solidFill>
                  <a:srgbClr val="000000"/>
                </a:solidFill>
              </a:rPr>
              <a:t> U-Net.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Tendência:</a:t>
            </a:r>
            <a:r>
              <a:rPr lang="en" sz="1900">
                <a:solidFill>
                  <a:srgbClr val="000000"/>
                </a:solidFill>
              </a:rPr>
              <a:t> Modelos híbridos (CNN + Transformers) e modelos leves para processamento em tempo real. 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e Métricas de Sucesso</a:t>
            </a:r>
            <a:endParaRPr/>
          </a:p>
        </p:txBody>
      </p:sp>
      <p:sp>
        <p:nvSpPr>
          <p:cNvPr id="344" name="Google Shape;344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Hardware:</a:t>
            </a:r>
            <a:r>
              <a:rPr lang="en" sz="1900">
                <a:solidFill>
                  <a:srgbClr val="000000"/>
                </a:solidFill>
              </a:rPr>
              <a:t> Uso de GPUs de alta performance (NVIDIA RTX 3090) para treino. Interesse crescente em</a:t>
            </a:r>
            <a:br>
              <a:rPr lang="en" sz="1900">
                <a:solidFill>
                  <a:srgbClr val="000000"/>
                </a:solidFill>
              </a:rPr>
            </a:br>
            <a:r>
              <a:rPr lang="en" sz="1900">
                <a:solidFill>
                  <a:srgbClr val="000000"/>
                </a:solidFill>
              </a:rPr>
              <a:t> Edge AI (NVIDIA Jetson) para inferência no campo.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Métricas de Avaliação:</a:t>
            </a:r>
            <a:endParaRPr b="1"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</a:rPr>
              <a:t>Detecção:</a:t>
            </a:r>
            <a:r>
              <a:rPr lang="en" sz="1900">
                <a:solidFill>
                  <a:srgbClr val="000000"/>
                </a:solidFill>
              </a:rPr>
              <a:t> </a:t>
            </a:r>
            <a:r>
              <a:rPr b="1" lang="en" sz="1900">
                <a:solidFill>
                  <a:srgbClr val="000000"/>
                </a:solidFill>
              </a:rPr>
              <a:t>P</a:t>
            </a:r>
            <a:r>
              <a:rPr lang="en" sz="1900">
                <a:solidFill>
                  <a:srgbClr val="000000"/>
                </a:solidFill>
              </a:rPr>
              <a:t>recision, Recall, mAP.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b="1" lang="en" sz="1900">
                <a:solidFill>
                  <a:srgbClr val="000000"/>
                </a:solidFill>
              </a:rPr>
              <a:t>Segmentação:</a:t>
            </a:r>
            <a:r>
              <a:rPr lang="en" sz="1900">
                <a:solidFill>
                  <a:srgbClr val="000000"/>
                </a:solidFill>
              </a:rPr>
              <a:t> IoU. 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Principais Contribuições e Discussão</a:t>
            </a:r>
            <a:endParaRPr/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Consolidação do Conhecimento:</a:t>
            </a:r>
            <a:r>
              <a:rPr lang="en" sz="1900">
                <a:solidFill>
                  <a:srgbClr val="000000"/>
                </a:solidFill>
              </a:rPr>
              <a:t> Organiza e mapeia o estado da arte.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Identificação de Gargalos Críticos:</a:t>
            </a:r>
            <a:endParaRPr b="1" sz="19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Custo Computacional.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Disponibilidade e Custo dos Dados.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Robustez em Condições Reais. 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 e Perspectivas Futuras</a:t>
            </a:r>
            <a:endParaRPr/>
          </a:p>
        </p:txBody>
      </p:sp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Conclusão:</a:t>
            </a:r>
            <a:r>
              <a:rPr lang="en" sz="1900">
                <a:solidFill>
                  <a:srgbClr val="000000"/>
                </a:solidFill>
              </a:rPr>
              <a:t> A tecnologia é promissora, mas ainda não está madura para adoção em larga escala.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Perspectivas Futuras:</a:t>
            </a:r>
            <a:endParaRPr b="1" sz="19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Otimização para Edge AI.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Criação de  Datasets públicos e diversos.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</a:rPr>
              <a:t>Integração com sistemas de pulverização. </a:t>
            </a:r>
            <a:endParaRPr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</a:t>
            </a:r>
            <a:endParaRPr/>
          </a:p>
        </p:txBody>
      </p:sp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Dúvidas?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