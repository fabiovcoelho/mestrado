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Urbanis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rbanis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italic.fntdata"/><Relationship Id="rId6" Type="http://schemas.openxmlformats.org/officeDocument/2006/relationships/slide" Target="slides/slide1.xml"/><Relationship Id="rId18" Type="http://schemas.openxmlformats.org/officeDocument/2006/relationships/font" Target="fonts/Urbanis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9" Type="http://schemas.openxmlformats.org/officeDocument/2006/relationships/image" Target="../media/image26.png"/><Relationship Id="rId5" Type="http://schemas.openxmlformats.org/officeDocument/2006/relationships/image" Target="../media/image8.png"/><Relationship Id="rId6" Type="http://schemas.openxmlformats.org/officeDocument/2006/relationships/image" Target="../media/image21.png"/><Relationship Id="rId7" Type="http://schemas.openxmlformats.org/officeDocument/2006/relationships/image" Target="../media/image34.png"/><Relationship Id="rId8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24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9" Type="http://schemas.openxmlformats.org/officeDocument/2006/relationships/image" Target="../media/image16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image" Target="../media/image31.png"/><Relationship Id="rId8" Type="http://schemas.openxmlformats.org/officeDocument/2006/relationships/image" Target="../media/image4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33.png"/><Relationship Id="rId6" Type="http://schemas.openxmlformats.org/officeDocument/2006/relationships/image" Target="../media/image22.png"/><Relationship Id="rId7" Type="http://schemas.openxmlformats.org/officeDocument/2006/relationships/image" Target="../media/image36.png"/><Relationship Id="rId8" Type="http://schemas.openxmlformats.org/officeDocument/2006/relationships/image" Target="../media/image4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0.png"/><Relationship Id="rId5" Type="http://schemas.openxmlformats.org/officeDocument/2006/relationships/image" Target="../media/image39.png"/><Relationship Id="rId6" Type="http://schemas.openxmlformats.org/officeDocument/2006/relationships/image" Target="../media/image32.png"/><Relationship Id="rId7" Type="http://schemas.openxmlformats.org/officeDocument/2006/relationships/image" Target="../media/image38.png"/><Relationship Id="rId8" Type="http://schemas.openxmlformats.org/officeDocument/2006/relationships/image" Target="../media/image4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4.png"/><Relationship Id="rId5" Type="http://schemas.openxmlformats.org/officeDocument/2006/relationships/image" Target="../media/image37.png"/><Relationship Id="rId6" Type="http://schemas.openxmlformats.org/officeDocument/2006/relationships/image" Target="../media/image4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76875" y="4740473"/>
            <a:ext cx="1238250" cy="81721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1490811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UNIVERSIDADE DO VALE DO ITAJAÍ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1890861"/>
            <a:ext cx="11601450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Monitoramento Ambiental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via MQTT e Node-RED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765202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Trabalho Final IoT | Aluno: Fábio Volkmann Coelho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476875" y="5111948"/>
            <a:ext cx="123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Itajaí - SC |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31715"/>
            <a:ext cx="3492400" cy="2724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531715"/>
            <a:ext cx="3492549" cy="2724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531715"/>
            <a:ext cx="3492400" cy="27240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94228" y="3474690"/>
            <a:ext cx="3046943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Problema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66775" y="3966120"/>
            <a:ext cx="29019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Necessidade de controle</a:t>
            </a:r>
            <a:r>
              <a:rPr lang="en-US" sz="13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 condições climáticas </a:t>
            </a:r>
            <a:r>
              <a:rPr lang="en-US" sz="13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nos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ambientes.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572375" y="3474690"/>
            <a:ext cx="3047099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Hardware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644925" y="3966120"/>
            <a:ext cx="290199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Implementação com ESP8266 NodeMCU e sensor DHT11.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350679" y="3474690"/>
            <a:ext cx="3046943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Conectividade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423225" y="3966120"/>
            <a:ext cx="2901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Protocolo MQTT e Dashboard em tempo real com Node-RED.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27200" y="285556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351" y="285556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6025" y="285556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762000" y="571500"/>
            <a:ext cx="11401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Visão Geral do Projeto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425255"/>
            <a:ext cx="4953000" cy="9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762000" y="762000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Contextualização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71500" y="762000"/>
            <a:ext cx="57150" cy="5485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71500" y="2381250"/>
            <a:ext cx="52006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Ambientes Críticos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303460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Em cenários como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Data Centers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laboratórios farmacêuticos e estufas agrícolas, pequenas variações climáticas podem causar prejuízos massivos.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68934"/>
            <a:ext cx="3492400" cy="24497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668934"/>
            <a:ext cx="3492549" cy="24497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668934"/>
            <a:ext cx="3492400" cy="24497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23225" y="2964209"/>
            <a:ext cx="29018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794228" y="3611909"/>
            <a:ext cx="3046943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1. Coleta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66775" y="4103340"/>
            <a:ext cx="2901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Leitura precisa de temperatura e umidade usando sensor digital DHT11.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572375" y="3611909"/>
            <a:ext cx="3047099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2. Transmissão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644925" y="4103340"/>
            <a:ext cx="290199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Envio de dados via Wi-Fi utilizando o protocolo leve MQTT.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350679" y="3611909"/>
            <a:ext cx="3046943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3. Visualização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423225" y="4103340"/>
            <a:ext cx="2901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Monitoramento remoto em tempo real via Dashboard Node-RED.</a:t>
            </a:r>
            <a:endParaRPr/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27200" y="299278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57726" y="2992784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762000" y="571500"/>
            <a:ext cx="11401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Objetivos do Projeto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8879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250314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 "cérebro" do sistema, escolhido por sua conectividade nativa e baixo custo.</a:t>
            </a:r>
            <a:endParaRPr/>
          </a:p>
        </p:txBody>
      </p:sp>
      <p:pic>
        <p:nvPicPr>
          <p:cNvPr descr="image.png" id="146" name="Google Shape;14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425749"/>
            <a:ext cx="5219700" cy="293608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1047750" y="3303240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SoC ESP8266EX: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Wi-Fi 2.4 GHz integrado.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1047750" y="3846165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Processamento: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32-bit RISC @ 80 MHz.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1047750" y="4389090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GPIO: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Operação em 3.3V (Pino D5/GPIO14 utilizado).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1047750" y="4932015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Memória: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4MB Flash para firmware e filesystem.</a:t>
            </a:r>
            <a:endParaRPr/>
          </a:p>
        </p:txBody>
      </p:sp>
      <p:pic>
        <p:nvPicPr>
          <p:cNvPr descr="image.png" id="151" name="Google Shape;15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5086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9379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3671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97964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762000" y="571500"/>
            <a:ext cx="11401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Microcontrolador: ESP8266 NodeMCU V3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88790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3624" y="1998315"/>
            <a:ext cx="5054500" cy="37908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6381750" y="250314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Responsável pela aquisição das grandezas físicas através do protocolo Single-Wire.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858000" y="3303240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Umidade: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20% a 90% RH (Precisão ±5%).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858000" y="3846165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Temperatura: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0°C a 50°C (Precisão ±2°C).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858000" y="4389090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Amostragem: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Intervalo mínimo de 2 segundos.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858000" y="4932015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Dados: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Pacote de 40 bits com Checksum.</a:t>
            </a:r>
            <a:endParaRPr/>
          </a:p>
        </p:txBody>
      </p:sp>
      <p:pic>
        <p:nvPicPr>
          <p:cNvPr descr="image.png" id="169" name="Google Shape;16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35086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3893790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443671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81750" y="497964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762000" y="571500"/>
            <a:ext cx="11401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Sensor Digital: DHT11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88790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87973"/>
            <a:ext cx="5238750" cy="9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571500" y="2382142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Arquitetura MQTT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571500" y="2892623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 MQTT foi escolhido por ser extremamente leve, ideal para redes instáveis e dispositivos IoT.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571500" y="4959548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Broker utilizado: test.mosquitto.org (Porta 1883)</a:t>
            </a:r>
            <a:endParaRPr/>
          </a:p>
        </p:txBody>
      </p:sp>
      <p:pic>
        <p:nvPicPr>
          <p:cNvPr descr="image.png" id="185" name="Google Shape;18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2849909"/>
            <a:ext cx="5219700" cy="208776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762000" y="571500"/>
            <a:ext cx="11401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Conectividade &amp; Protocolo</a:t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571500" y="1501080"/>
            <a:ext cx="56007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Fluxo Principal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6286500" y="1501080"/>
            <a:ext cx="56007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Pseudocódigo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1047750" y="197346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Setup: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Inicializa Serial, Sensor DHT e Wi-Fi.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1047750" y="251638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Loop: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Verifica conexão MQTT antes de qualquer ação.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1047750" y="305931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Resiliência: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Reconexão automática em caso de queda.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1047750" y="360223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Delay: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Espera de 10s para estabilidade do sensor.</a:t>
            </a:r>
            <a:endParaRPr/>
          </a:p>
        </p:txBody>
      </p:sp>
      <p:pic>
        <p:nvPicPr>
          <p:cNvPr descr="image.png" id="199" name="Google Shape;19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2108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6401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0693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64986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762000" y="571500"/>
            <a:ext cx="11401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Lógica do Firmware</a:t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19063" y="2135375"/>
            <a:ext cx="4410075" cy="3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6858000" y="762000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Dashboard Node-RED</a:t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6667500" y="762000"/>
            <a:ext cx="57150" cy="5485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6667500" y="1981200"/>
            <a:ext cx="52006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Visualização em Tempo Real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6667500" y="263455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plataforma atua como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Subscriber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nos tópicos MQTT, convertendo os payloads recebidos em indicadores visuais instantâneos.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7143750" y="4177605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Widgets do tipo "Gauge".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7143750" y="4720530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Atualização síncrona (10s).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7143750" y="5263455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Sem necessidade de parsers complexos.</a:t>
            </a:r>
            <a:endParaRPr/>
          </a:p>
        </p:txBody>
      </p:sp>
      <p:pic>
        <p:nvPicPr>
          <p:cNvPr descr="image.png" id="219" name="Google Shape;21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0" y="422523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0" y="476815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0" y="531108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55700" y="657675"/>
            <a:ext cx="3310400" cy="488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994695"/>
            <a:ext cx="5238750" cy="120387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 txBox="1"/>
          <p:nvPr/>
        </p:nvSpPr>
        <p:spPr>
          <a:xfrm>
            <a:off x="6381750" y="2588865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Implementação Física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6381750" y="309934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 sistema foi montado com sucesso em protoboard, validando a integração entre hardware e software.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6610350" y="4185195"/>
            <a:ext cx="48196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A7F3D0"/>
                </a:solidFill>
                <a:latin typeface="Urbanist"/>
                <a:ea typeface="Urbanist"/>
                <a:cs typeface="Urbanist"/>
                <a:sym typeface="Urbanist"/>
              </a:rPr>
              <a:t>Conclusão:</a:t>
            </a:r>
            <a:r>
              <a:rPr b="0" i="0" lang="en-US" sz="1350" u="none" cap="none" strike="noStrike">
                <a:solidFill>
                  <a:srgbClr val="A7F3D0"/>
                </a:solidFill>
                <a:latin typeface="Urbanist"/>
                <a:ea typeface="Urbanist"/>
                <a:cs typeface="Urbanist"/>
                <a:sym typeface="Urbanist"/>
              </a:rPr>
              <a:t> O objetivo de monitoramento remoto contínuo foi atingido, com dados sendo transmitidos e visualizados de forma estável.</a:t>
            </a:r>
            <a:endParaRPr/>
          </a:p>
        </p:txBody>
      </p:sp>
      <p:pic>
        <p:nvPicPr>
          <p:cNvPr descr="image.png" id="232" name="Google Shape;23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0350" y="423282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762000" y="571500"/>
            <a:ext cx="11401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Resultados do Protótipo</a:t>
            </a: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11425" y="1697675"/>
            <a:ext cx="3276600" cy="432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 txBox="1"/>
          <p:nvPr/>
        </p:nvSpPr>
        <p:spPr>
          <a:xfrm>
            <a:off x="381000" y="1914525"/>
            <a:ext cx="8001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Obrigado!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571500" y="3057525"/>
            <a:ext cx="7620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Alguma pergunta?</a:t>
            </a:r>
            <a:endParaRPr/>
          </a:p>
        </p:txBody>
      </p:sp>
      <p:pic>
        <p:nvPicPr>
          <p:cNvPr descr="image.png" id="243" name="Google Shape;24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33863" y="3994695"/>
            <a:ext cx="29527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3519488" y="4547145"/>
            <a:ext cx="1724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github.com/FabioVCoelho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