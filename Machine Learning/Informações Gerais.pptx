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62" r:id="rId4"/>
    <p:sldId id="343" r:id="rId5"/>
    <p:sldId id="344" r:id="rId6"/>
    <p:sldId id="369" r:id="rId7"/>
    <p:sldId id="370" r:id="rId8"/>
    <p:sldId id="371" r:id="rId9"/>
    <p:sldId id="372" r:id="rId10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8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ta Maria da Rocha Fernandes" userId="9ce23021-24b7-4bcd-b2ed-bd59a0e86a6d" providerId="ADAL" clId="{7042EEE4-74AC-4A51-BCD9-5E9517C4E925}"/>
    <pc:docChg chg="delSld">
      <pc:chgData name="Anita Maria da Rocha Fernandes" userId="9ce23021-24b7-4bcd-b2ed-bd59a0e86a6d" providerId="ADAL" clId="{7042EEE4-74AC-4A51-BCD9-5E9517C4E925}" dt="2025-08-10T15:08:48.670" v="0" actId="47"/>
      <pc:docMkLst>
        <pc:docMk/>
      </pc:docMkLst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209322005" sldId="25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501347425" sldId="26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389385440" sldId="26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46734615" sldId="26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01853349" sldId="26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009822149" sldId="26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758541949" sldId="26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127839840" sldId="26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156878966" sldId="26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846354416" sldId="27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76513575" sldId="27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57374342" sldId="27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58108206" sldId="27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30568524" sldId="27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973319031" sldId="27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79572171" sldId="27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528517315" sldId="27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306061874" sldId="28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6767769" sldId="28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733943490" sldId="28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741359061" sldId="28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012660877" sldId="28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079709807" sldId="28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988014008" sldId="28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986231092" sldId="28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804590036" sldId="29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634457338" sldId="29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86327077" sldId="29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214214677" sldId="29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92967859" sldId="29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121275332" sldId="29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627540491" sldId="29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615118952" sldId="29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230367365" sldId="29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01797002" sldId="29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166030112" sldId="30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88337753" sldId="30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897530212" sldId="30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995070599" sldId="30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067382377" sldId="30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996486726" sldId="30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645441954" sldId="30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31670109" sldId="30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298858355" sldId="30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966388702" sldId="31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196836613" sldId="31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15361867" sldId="31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116193683" sldId="32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012892656" sldId="32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55196364" sldId="32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142261459" sldId="32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479690585" sldId="32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966229193" sldId="32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15513508" sldId="32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47571579" sldId="32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166060187" sldId="33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408413553" sldId="33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87147547" sldId="33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267737719" sldId="33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463056943" sldId="33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723782726" sldId="33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36581192" sldId="33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67203690" sldId="33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244000793" sldId="33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961608355" sldId="33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881292974" sldId="34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202373817" sldId="34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438507331" sldId="34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114071373" sldId="34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756248034" sldId="34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475389281" sldId="34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4206665836" sldId="34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933404294" sldId="34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28028595" sldId="35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357744587" sldId="35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399196905" sldId="35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200130335" sldId="35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417882549" sldId="35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17288801" sldId="35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0219387" sldId="35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573947589" sldId="35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468202801" sldId="358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2650778217" sldId="359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52475832" sldId="360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9499887" sldId="361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794671932" sldId="362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477429568" sldId="363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69941633" sldId="364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571895571" sldId="365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719591913" sldId="366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1057977799" sldId="367"/>
        </pc:sldMkLst>
      </pc:sldChg>
      <pc:sldChg chg="del">
        <pc:chgData name="Anita Maria da Rocha Fernandes" userId="9ce23021-24b7-4bcd-b2ed-bd59a0e86a6d" providerId="ADAL" clId="{7042EEE4-74AC-4A51-BCD9-5E9517C4E925}" dt="2025-08-10T15:08:48.670" v="0" actId="47"/>
        <pc:sldMkLst>
          <pc:docMk/>
          <pc:sldMk cId="3425595782" sldId="36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#2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pt-BR"/>
        </a:p>
      </dgm:t>
    </dgm:pt>
    <dgm:pt modelId="{701D68F5-42F8-47BC-8FED-84C50F595DF0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pt-BR" noProof="0" dirty="0"/>
            <a:t>Conceitos e Aplicações</a:t>
          </a:r>
        </a:p>
      </dgm:t>
    </dgm:pt>
    <dgm:pt modelId="{9617668C-C38C-4017-8DDF-37855B15D110}" type="parTrans" cxnId="{C4BA385D-31ED-40EF-A5D6-98DFBA64E71A}">
      <dgm:prSet/>
      <dgm:spPr/>
      <dgm:t>
        <a:bodyPr rtlCol="0"/>
        <a:lstStyle/>
        <a:p>
          <a:pPr rtl="0"/>
          <a:endParaRPr lang="pt-BR" noProof="0" dirty="0"/>
        </a:p>
      </dgm:t>
    </dgm:pt>
    <dgm:pt modelId="{0C95B389-AC0C-4055-9AA3-38815EFC8B0A}" type="sibTrans" cxnId="{C4BA385D-31ED-40EF-A5D6-98DFBA64E71A}">
      <dgm:prSet/>
      <dgm:spPr/>
      <dgm:t>
        <a:bodyPr rtlCol="0"/>
        <a:lstStyle/>
        <a:p>
          <a:pPr rtl="0"/>
          <a:endParaRPr lang="pt-BR" noProof="0" dirty="0"/>
        </a:p>
      </dgm:t>
    </dgm:pt>
    <dgm:pt modelId="{91A66877-AC1C-46D9-BF2C-6024B638DEA9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pt-BR" noProof="0" dirty="0"/>
            <a:t>Algoritmos </a:t>
          </a:r>
        </a:p>
      </dgm:t>
    </dgm:pt>
    <dgm:pt modelId="{913FED05-DF41-48A7-B1F8-81937A468EF9}" type="parTrans" cxnId="{7F0DAB6F-9257-4F2D-B31A-3418F73F6952}">
      <dgm:prSet/>
      <dgm:spPr/>
      <dgm:t>
        <a:bodyPr rtlCol="0"/>
        <a:lstStyle/>
        <a:p>
          <a:pPr rtl="0"/>
          <a:endParaRPr lang="pt-BR" noProof="0" dirty="0"/>
        </a:p>
      </dgm:t>
    </dgm:pt>
    <dgm:pt modelId="{BFCE4A28-C381-46FF-935A-B11534EF7D87}" type="sibTrans" cxnId="{7F0DAB6F-9257-4F2D-B31A-3418F73F6952}">
      <dgm:prSet/>
      <dgm:spPr/>
      <dgm:t>
        <a:bodyPr rtlCol="0"/>
        <a:lstStyle/>
        <a:p>
          <a:pPr rtl="0"/>
          <a:endParaRPr lang="pt-BR" noProof="0" dirty="0"/>
        </a:p>
      </dgm:t>
    </dgm:pt>
    <dgm:pt modelId="{76CC3289-2662-43F0-A3C6-BA04A135F08C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pt-BR" noProof="0" dirty="0"/>
            <a:t>Métricas</a:t>
          </a:r>
        </a:p>
      </dgm:t>
    </dgm:pt>
    <dgm:pt modelId="{D46DB4DA-1442-4ECE-89FE-BBB1E3489E3D}" type="parTrans" cxnId="{0400886E-8A1A-44C2-95A7-DB0EF4911494}">
      <dgm:prSet/>
      <dgm:spPr/>
      <dgm:t>
        <a:bodyPr rtlCol="0"/>
        <a:lstStyle/>
        <a:p>
          <a:pPr rtl="0"/>
          <a:endParaRPr lang="pt-BR" noProof="0" dirty="0"/>
        </a:p>
      </dgm:t>
    </dgm:pt>
    <dgm:pt modelId="{FA28C9D6-476E-43CD-BA23-D6D990FD78D0}" type="sibTrans" cxnId="{0400886E-8A1A-44C2-95A7-DB0EF4911494}">
      <dgm:prSet/>
      <dgm:spPr/>
      <dgm:t>
        <a:bodyPr rtlCol="0"/>
        <a:lstStyle/>
        <a:p>
          <a:pPr rtl="0"/>
          <a:endParaRPr lang="pt-BR" noProof="0" dirty="0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>
          <a:noFill/>
        </a:ln>
      </dgm:spPr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>
          <a:noFill/>
        </a:ln>
      </dgm:spPr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#2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#2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#2"/>
    <dgm:cxn modelId="{6E31C6AB-C9E6-448F-A8CC-566A63619D4D}" type="presOf" srcId="{76CC3289-2662-43F0-A3C6-BA04A135F08C}" destId="{133097FC-B1F8-4953-B0AB-E8E73D968D1C}" srcOrd="0" destOrd="0" presId="urn:microsoft.com/office/officeart/2018/2/layout/IconLabelList#2"/>
    <dgm:cxn modelId="{2AD6E781-3ED2-484E-B438-73386D2C583D}" type="presParOf" srcId="{8994D886-A75F-411A-A9D7-D31991FF12BD}" destId="{E1DBA6D5-BD14-4CD2-A0CC-80F867FEFA81}" srcOrd="0" destOrd="0" presId="urn:microsoft.com/office/officeart/2018/2/layout/IconLabelList#2"/>
    <dgm:cxn modelId="{10B2B212-528C-471D-ABD0-D66ED992B833}" type="presParOf" srcId="{E1DBA6D5-BD14-4CD2-A0CC-80F867FEFA81}" destId="{19A8DC21-3E65-409D-AD53-DA51BB9198A0}" srcOrd="0" destOrd="0" presId="urn:microsoft.com/office/officeart/2018/2/layout/IconLabelList#2"/>
    <dgm:cxn modelId="{2A8FB3D0-F98B-4F5A-BACA-4315E38776FB}" type="presParOf" srcId="{E1DBA6D5-BD14-4CD2-A0CC-80F867FEFA81}" destId="{B9F90A48-FF94-4C94-A587-0190406F6FD3}" srcOrd="1" destOrd="0" presId="urn:microsoft.com/office/officeart/2018/2/layout/IconLabelList#2"/>
    <dgm:cxn modelId="{95FEF629-9884-451C-89B4-41B897ABE3D6}" type="presParOf" srcId="{E1DBA6D5-BD14-4CD2-A0CC-80F867FEFA81}" destId="{A99B5DD6-89E9-4537-B415-4205CEB9323A}" srcOrd="2" destOrd="0" presId="urn:microsoft.com/office/officeart/2018/2/layout/IconLabelList#2"/>
    <dgm:cxn modelId="{0FE6827F-DE80-4F8A-8E9D-7F88C0F7EF29}" type="presParOf" srcId="{8994D886-A75F-411A-A9D7-D31991FF12BD}" destId="{8B391436-B9B0-45BD-A57F-792D6376D868}" srcOrd="1" destOrd="0" presId="urn:microsoft.com/office/officeart/2018/2/layout/IconLabelList#2"/>
    <dgm:cxn modelId="{4857BE3A-D518-473D-AC79-7B9BF18B9824}" type="presParOf" srcId="{8994D886-A75F-411A-A9D7-D31991FF12BD}" destId="{95872155-C45D-46D3-874C-D838089A06F8}" srcOrd="2" destOrd="0" presId="urn:microsoft.com/office/officeart/2018/2/layout/IconLabelList#2"/>
    <dgm:cxn modelId="{B4B325C4-81F2-4B3E-8CBF-4532B0BFA343}" type="presParOf" srcId="{95872155-C45D-46D3-874C-D838089A06F8}" destId="{CE9DF0E8-B0DE-4E1E-9FF4-6006AD8428DB}" srcOrd="0" destOrd="0" presId="urn:microsoft.com/office/officeart/2018/2/layout/IconLabelList#2"/>
    <dgm:cxn modelId="{0AE6D335-6E55-47E1-BAD8-0368620AB8F6}" type="presParOf" srcId="{95872155-C45D-46D3-874C-D838089A06F8}" destId="{AA0423A1-55B2-45E9-BFE7-3FBE5BDA65ED}" srcOrd="1" destOrd="0" presId="urn:microsoft.com/office/officeart/2018/2/layout/IconLabelList#2"/>
    <dgm:cxn modelId="{AFEE8CCD-97FE-4EFA-A584-DF6AFDAD2B20}" type="presParOf" srcId="{95872155-C45D-46D3-874C-D838089A06F8}" destId="{55120873-6F5C-4053-8EAD-6287A7F1097E}" srcOrd="2" destOrd="0" presId="urn:microsoft.com/office/officeart/2018/2/layout/IconLabelList#2"/>
    <dgm:cxn modelId="{26649F18-C204-4047-8300-905486AB3755}" type="presParOf" srcId="{8994D886-A75F-411A-A9D7-D31991FF12BD}" destId="{F679C986-30E4-4F0A-A3A6-CAE528BFED76}" srcOrd="3" destOrd="0" presId="urn:microsoft.com/office/officeart/2018/2/layout/IconLabelList#2"/>
    <dgm:cxn modelId="{898D629F-DA37-435F-A0B2-0617605D711A}" type="presParOf" srcId="{8994D886-A75F-411A-A9D7-D31991FF12BD}" destId="{2EC2FDE3-8908-45C7-A3FD-EB370213FE69}" srcOrd="4" destOrd="0" presId="urn:microsoft.com/office/officeart/2018/2/layout/IconLabelList#2"/>
    <dgm:cxn modelId="{2BDADB1C-15B1-4763-9B35-3792147F8F87}" type="presParOf" srcId="{2EC2FDE3-8908-45C7-A3FD-EB370213FE69}" destId="{6DB1FE51-13D0-4A38-AD6E-48D4371A1AF3}" srcOrd="0" destOrd="0" presId="urn:microsoft.com/office/officeart/2018/2/layout/IconLabelList#2"/>
    <dgm:cxn modelId="{F692F1E6-C6EC-4391-8432-EB6C34194240}" type="presParOf" srcId="{2EC2FDE3-8908-45C7-A3FD-EB370213FE69}" destId="{0928538A-05CC-4A79-BD5D-92F985D1EEE5}" srcOrd="1" destOrd="0" presId="urn:microsoft.com/office/officeart/2018/2/layout/IconLabelList#2"/>
    <dgm:cxn modelId="{0E6AF6C4-A4E5-4234-9E16-F9F2334264CD}" type="presParOf" srcId="{2EC2FDE3-8908-45C7-A3FD-EB370213FE69}" destId="{133097FC-B1F8-4953-B0AB-E8E73D968D1C}" srcOrd="2" destOrd="0" presId="urn:microsoft.com/office/officeart/2018/2/layout/IconLabel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Conceitos e Aplicações</a:t>
          </a:r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Algoritmos 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Métricas</a:t>
          </a:r>
        </a:p>
      </dsp:txBody>
      <dsp:txXfrm>
        <a:off x="7628474" y="2746269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#2">
  <dgm:title val="Lista de Rótulos de Ícone"/>
  <dgm:desc val="Use para mostrar blocos de informações não sequenciais ou agrupados, acompanhados por elementos visuais relacionados. Funciona melhor com ícones ou pequenas imagens com legendas de texto curto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09/08/2025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09/08/2025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42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628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56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F8DB0-1147-1656-29AA-7DB672B1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703ACF0-D127-FBAD-DF70-086D473A5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83C6385-9F60-985E-5DE4-4B71E2061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E58725C-A677-54B9-2140-12BE4DB12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08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47EB-81B9-9E85-4101-4BDD18A5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7F122F9-67F1-8BB4-EEB7-7615D7B68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383785E-6D4D-476A-AB77-C43300656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BC07858-FA00-E23F-1123-E701FAC5E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43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BA57-4FDE-5890-DD4B-487C4330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FECB6BF-FAB9-D523-E1AE-6166C7530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E7FF7C4-6F73-9063-1DB4-348D09B78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75DBF0E-72C3-AC9A-2C21-F0B66832B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692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1143-2768-ADAF-E392-04D02B43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ACAAB4F-6229-DE0B-B74E-33ECE54B6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ECDFFC8-3956-12E2-D113-EF2D5F85C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1DBD15C-121C-C331-C413-1D040831B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740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09/08/2025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7CEBFF"/>
                </a:solidFill>
              </a:rPr>
              <a:t>Anita Fernandes, Raimundo </a:t>
            </a:r>
            <a:r>
              <a:rPr lang="pt-BR" dirty="0" err="1">
                <a:solidFill>
                  <a:srgbClr val="7CEBFF"/>
                </a:solidFill>
              </a:rPr>
              <a:t>teive</a:t>
            </a:r>
            <a:r>
              <a:rPr lang="pt-BR" dirty="0">
                <a:solidFill>
                  <a:srgbClr val="7CEBFF"/>
                </a:solidFill>
              </a:rPr>
              <a:t>,  RUDIMAR DAZZI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ementa</a:t>
            </a:r>
          </a:p>
        </p:txBody>
      </p:sp>
      <p:graphicFrame>
        <p:nvGraphicFramePr>
          <p:cNvPr id="4" name="Espaço Reservado para Conteúdo 3" descr="Elemento gráfico SmartArt do ícone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269459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cronograma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59FA09-113D-6438-200F-5DFAF282DDE5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B46799-CBEB-8BC3-FED0-FC87192AC5A5}"/>
              </a:ext>
            </a:extLst>
          </p:cNvPr>
          <p:cNvSpPr txBox="1"/>
          <p:nvPr/>
        </p:nvSpPr>
        <p:spPr>
          <a:xfrm>
            <a:off x="514501" y="637272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kern="1200" noProof="0" dirty="0"/>
              <a:t>12/08 – Apresentação da disciplina 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            Introdução a ML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19/08 – IA Explicável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kern="1200" noProof="0" dirty="0"/>
              <a:t>26/08 – </a:t>
            </a:r>
            <a:r>
              <a:rPr lang="pt-BR" sz="2400" dirty="0"/>
              <a:t>Técnicas estatística para pré-processamento 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            de dados. 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02/09 – Técnicas estatística para pré-processamento 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            de dados. 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09/09 – Algoritmos de Classificação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>
                <a:solidFill>
                  <a:srgbClr val="FF0000"/>
                </a:solidFill>
              </a:rPr>
              <a:t>16/09 - Pré-processamento em uma base de dados – 1ª. Avaliação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endParaRPr lang="pt-BR" sz="2400" dirty="0"/>
          </a:p>
        </p:txBody>
      </p:sp>
      <p:pic>
        <p:nvPicPr>
          <p:cNvPr id="5" name="Imagem 4" descr="Datas do calendário">
            <a:extLst>
              <a:ext uri="{FF2B5EF4-FFF2-40B4-BE49-F238E27FC236}">
                <a16:creationId xmlns:a16="http://schemas.microsoft.com/office/drawing/2014/main" id="{931A057D-3193-77B6-1DC6-9F006ACD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785" y="997197"/>
            <a:ext cx="4721331" cy="314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4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cronograma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59FA09-113D-6438-200F-5DFAF282DDE5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B46799-CBEB-8BC3-FED0-FC87192AC5A5}"/>
              </a:ext>
            </a:extLst>
          </p:cNvPr>
          <p:cNvSpPr txBox="1"/>
          <p:nvPr/>
        </p:nvSpPr>
        <p:spPr>
          <a:xfrm>
            <a:off x="709061" y="676184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kern="1200" noProof="0" dirty="0"/>
              <a:t>23/09 – Redes Neurais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30/09 – </a:t>
            </a:r>
            <a:r>
              <a:rPr lang="pt-BR" sz="2400" dirty="0">
                <a:solidFill>
                  <a:schemeClr val="tx1"/>
                </a:solidFill>
              </a:rPr>
              <a:t>Conceitos Gerais de Aprendizado Profundo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kern="1200" noProof="0" dirty="0"/>
              <a:t>07/10 – </a:t>
            </a:r>
            <a:r>
              <a:rPr lang="pt-BR" sz="2400" dirty="0">
                <a:solidFill>
                  <a:schemeClr val="tx1"/>
                </a:solidFill>
              </a:rPr>
              <a:t>Métricas de Avaliação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14/10 – Aplicação de AM e PLM (Transformers – BERT)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21/10 –</a:t>
            </a:r>
            <a:r>
              <a:rPr lang="pt-BR" sz="2400" kern="1200" noProof="0" dirty="0"/>
              <a:t> </a:t>
            </a:r>
            <a:r>
              <a:rPr lang="pt-BR" sz="2400" dirty="0"/>
              <a:t>AM aplicado ao processamento de sinais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dirty="0"/>
              <a:t>28/10 – AM e  Processamento de Imagens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04/11 – Questões éticas, legais e desempenho de 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             modelos de AM, bem como o 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/>
              <a:t>             Plano Brasileiro de IA com foco em AM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2400" dirty="0"/>
          </a:p>
        </p:txBody>
      </p:sp>
      <p:pic>
        <p:nvPicPr>
          <p:cNvPr id="6" name="Imagem 5" descr="Datas do calendário">
            <a:extLst>
              <a:ext uri="{FF2B5EF4-FFF2-40B4-BE49-F238E27FC236}">
                <a16:creationId xmlns:a16="http://schemas.microsoft.com/office/drawing/2014/main" id="{0CA6153B-33EB-70A2-C1DC-C7C024E92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561" y="1255087"/>
            <a:ext cx="3976985" cy="265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2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cronograma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59FA09-113D-6438-200F-5DFAF282DDE5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B46799-CBEB-8BC3-FED0-FC87192AC5A5}"/>
              </a:ext>
            </a:extLst>
          </p:cNvPr>
          <p:cNvSpPr txBox="1"/>
          <p:nvPr/>
        </p:nvSpPr>
        <p:spPr>
          <a:xfrm>
            <a:off x="709061" y="676184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3200" kern="1200" noProof="0" dirty="0">
              <a:solidFill>
                <a:srgbClr val="FF0000"/>
              </a:solidFill>
            </a:endParaRP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3200" dirty="0">
              <a:solidFill>
                <a:srgbClr val="FF0000"/>
              </a:solidFill>
            </a:endParaRP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3200" kern="1200" noProof="0" dirty="0">
                <a:solidFill>
                  <a:srgbClr val="FF0000"/>
                </a:solidFill>
              </a:rPr>
              <a:t>11/11 – </a:t>
            </a:r>
            <a:r>
              <a:rPr lang="pt-BR" sz="3200" dirty="0">
                <a:solidFill>
                  <a:srgbClr val="FF0000"/>
                </a:solidFill>
              </a:rPr>
              <a:t>Preparação do Trabalho Final</a:t>
            </a: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3200" dirty="0">
                <a:solidFill>
                  <a:srgbClr val="FF0000"/>
                </a:solidFill>
              </a:rPr>
              <a:t>18/11 – Apresentações dos Trabalhos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3200" dirty="0">
                <a:solidFill>
                  <a:srgbClr val="FF0000"/>
                </a:solidFill>
              </a:rPr>
              <a:t>25/11 –</a:t>
            </a:r>
            <a:r>
              <a:rPr lang="pt-BR" sz="3200" kern="1200" noProof="0" dirty="0">
                <a:solidFill>
                  <a:srgbClr val="FF0000"/>
                </a:solidFill>
              </a:rPr>
              <a:t> </a:t>
            </a:r>
            <a:r>
              <a:rPr lang="pt-BR" sz="3200" dirty="0">
                <a:solidFill>
                  <a:srgbClr val="FF0000"/>
                </a:solidFill>
              </a:rPr>
              <a:t>Apresentações dos Trabalhos</a:t>
            </a:r>
          </a:p>
        </p:txBody>
      </p:sp>
      <p:pic>
        <p:nvPicPr>
          <p:cNvPr id="1026" name="Picture 2" descr="apresentação de negócios ou trabalho em equipe 2106194 Vetor no Vecteezy">
            <a:extLst>
              <a:ext uri="{FF2B5EF4-FFF2-40B4-BE49-F238E27FC236}">
                <a16:creationId xmlns:a16="http://schemas.microsoft.com/office/drawing/2014/main" id="{64487836-52A6-019B-1FA1-3032EE3DA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84" y="694235"/>
            <a:ext cx="4290216" cy="429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35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7E5DC-576A-FB10-F428-64A178AE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85F3132E-31D0-EA06-8C26-60CE8D3DB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8181D45-8ED1-3C55-1072-AD3627C80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A3DC8C-8218-77B3-DF7D-CAF66A7A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REGRAS DE POSTAGEM E APRESENTAÇÃO DO TRABALHO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05D82C3-BF18-BAF2-B8DA-0137F9621EA4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BE0DF6-F3DB-F71E-86DA-C75A2BBCD0D3}"/>
              </a:ext>
            </a:extLst>
          </p:cNvPr>
          <p:cNvSpPr txBox="1"/>
          <p:nvPr/>
        </p:nvSpPr>
        <p:spPr>
          <a:xfrm>
            <a:off x="709061" y="676184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3200" kern="1200" noProof="0" dirty="0">
              <a:solidFill>
                <a:srgbClr val="FF0000"/>
              </a:solidFill>
            </a:endParaRPr>
          </a:p>
          <a:p>
            <a:pPr marL="0" lvl="0" indent="0" algn="just" defTabSz="11557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3200" dirty="0">
              <a:solidFill>
                <a:srgbClr val="FF0000"/>
              </a:solidFill>
            </a:endParaRP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3200" dirty="0">
                <a:solidFill>
                  <a:srgbClr val="FF0000"/>
                </a:solidFill>
              </a:rPr>
              <a:t>Todos os trabalhos devem ser postados até as 18 horas dos dias: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3200" dirty="0">
                <a:solidFill>
                  <a:srgbClr val="FF0000"/>
                </a:solidFill>
              </a:rPr>
              <a:t>16/09/2025 - Primeira etapa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3200" dirty="0">
                <a:solidFill>
                  <a:srgbClr val="FF0000"/>
                </a:solidFill>
              </a:rPr>
              <a:t>18/11/2025 - Segunda etapa</a:t>
            </a:r>
          </a:p>
        </p:txBody>
      </p:sp>
      <p:pic>
        <p:nvPicPr>
          <p:cNvPr id="1026" name="Picture 2" descr="apresentação de negócios ou trabalho em equipe 2106194 Vetor no Vecteezy">
            <a:extLst>
              <a:ext uri="{FF2B5EF4-FFF2-40B4-BE49-F238E27FC236}">
                <a16:creationId xmlns:a16="http://schemas.microsoft.com/office/drawing/2014/main" id="{6F936B28-6297-DE84-C0F2-79A88D943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84" y="694235"/>
            <a:ext cx="4290216" cy="429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713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A6F18-5C65-E00E-292B-BF232313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13B746B1-5A72-46BA-F348-B57FA7DBD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BF6DD44-0AFE-4A75-4C67-38AFF59F7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740F98-4381-72E8-536C-37C9DC87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REGRAS DE POSTAGEM E APRESENTAÇÃO DO TRABALHO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6313F89-F649-C79A-581F-3A482FDE93CA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165C247-D927-8CF0-9931-8BAC552FEB29}"/>
              </a:ext>
            </a:extLst>
          </p:cNvPr>
          <p:cNvSpPr txBox="1"/>
          <p:nvPr/>
        </p:nvSpPr>
        <p:spPr>
          <a:xfrm>
            <a:off x="709061" y="676184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>
                <a:solidFill>
                  <a:srgbClr val="FF0000"/>
                </a:solidFill>
                <a:highlight>
                  <a:srgbClr val="FFFF00"/>
                </a:highlight>
              </a:rPr>
              <a:t>Dia 16/09 </a:t>
            </a:r>
            <a:r>
              <a:rPr lang="pt-BR" sz="2400" dirty="0">
                <a:solidFill>
                  <a:srgbClr val="FF0000"/>
                </a:solidFill>
              </a:rPr>
              <a:t>- Deverá ser apresentada uma proposta de sistema computacional a ser implementado, envolvendo a aplicação de algum algoritmo de Aprendizado de Máquina em um problema relevante. Neste caso, deverá ser entregue e apresentado um projeto, contendo os seguintes itens: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Descrição do problema a ser abordado (contextualização e relevância).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Objetivos do trabalho.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Definição da </a:t>
            </a:r>
            <a:r>
              <a:rPr lang="pt-BR" sz="2200" dirty="0" err="1">
                <a:solidFill>
                  <a:srgbClr val="FF0000"/>
                </a:solidFill>
              </a:rPr>
              <a:t>dataset</a:t>
            </a:r>
            <a:r>
              <a:rPr lang="pt-BR" sz="2200" dirty="0">
                <a:solidFill>
                  <a:srgbClr val="FF0000"/>
                </a:solidFill>
              </a:rPr>
              <a:t> a ser utilizado.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Resultados preliminares do pré-processamento dos dados.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Algoritmo de ML a ser utilizado. API ou software a ser utilizado.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Resultados esperados.</a:t>
            </a:r>
          </a:p>
        </p:txBody>
      </p:sp>
    </p:spTree>
    <p:extLst>
      <p:ext uri="{BB962C8B-B14F-4D97-AF65-F5344CB8AC3E}">
        <p14:creationId xmlns:p14="http://schemas.microsoft.com/office/powerpoint/2010/main" val="295307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B092C-0F8A-9CEC-A697-B94E4CF2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4D26585C-BDB4-8E02-82F5-B2B3DFB5A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F3F4FED-A7FD-6A76-5E0A-120CB1772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EA47F9-1B9A-C614-2814-F01D9AD0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REGRAS DE POSTAGEM E APRESENTAÇÃO DO TRABALHO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D351BB-3A81-609B-9842-F162114F5C33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0318A8-B57F-2B0B-1187-DB5C9CC3615B}"/>
              </a:ext>
            </a:extLst>
          </p:cNvPr>
          <p:cNvSpPr txBox="1"/>
          <p:nvPr/>
        </p:nvSpPr>
        <p:spPr>
          <a:xfrm>
            <a:off x="709061" y="676184"/>
            <a:ext cx="11029616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>
                <a:solidFill>
                  <a:srgbClr val="FF0000"/>
                </a:solidFill>
                <a:highlight>
                  <a:srgbClr val="FFFF00"/>
                </a:highlight>
              </a:rPr>
              <a:t>Dias 18 e 25/11 </a:t>
            </a:r>
            <a:r>
              <a:rPr lang="pt-BR" sz="2400" dirty="0">
                <a:solidFill>
                  <a:srgbClr val="FF0000"/>
                </a:solidFill>
              </a:rPr>
              <a:t>- Deverá ser apresentado o trabalho final, com os seguintes elementos: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Descrição do problema a ser abordado (contextualização e relevância).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Objetivos do trabalho.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Definição da </a:t>
            </a:r>
            <a:r>
              <a:rPr lang="pt-BR" sz="2200" dirty="0" err="1">
                <a:solidFill>
                  <a:srgbClr val="FF0000"/>
                </a:solidFill>
              </a:rPr>
              <a:t>dataset</a:t>
            </a:r>
            <a:r>
              <a:rPr lang="pt-BR" sz="2200" dirty="0">
                <a:solidFill>
                  <a:srgbClr val="FF0000"/>
                </a:solidFill>
              </a:rPr>
              <a:t> a ser utilizado.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Descrição das etapas do aprendizado de máquina.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Apresentação do processo de treinamento e teste, bem como as métricas utilizadas.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Resultados alcançados.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00"/>
                </a:solidFill>
              </a:rPr>
              <a:t>Discussão dos resultados, sob a luz da teoria de Aprendizado de Máquina.</a:t>
            </a:r>
          </a:p>
        </p:txBody>
      </p:sp>
    </p:spTree>
    <p:extLst>
      <p:ext uri="{BB962C8B-B14F-4D97-AF65-F5344CB8AC3E}">
        <p14:creationId xmlns:p14="http://schemas.microsoft.com/office/powerpoint/2010/main" val="16012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F811D-C591-ADA5-ACA4-3054B907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D2DB130F-AE63-4A0C-7B0C-855158BC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4AE9C3B-EC26-32B9-DCB3-1EB899A42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D9F996-FAE9-2C13-EC8F-BF10C751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REGRAS DE POSTAGEM E APRESENTAÇÃO DO TRABALHO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D3CCA9-3202-867D-7514-28B0BB80F632}"/>
              </a:ext>
            </a:extLst>
          </p:cNvPr>
          <p:cNvSpPr/>
          <p:nvPr/>
        </p:nvSpPr>
        <p:spPr>
          <a:xfrm>
            <a:off x="581192" y="1356026"/>
            <a:ext cx="11029616" cy="72000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CB34B10-B99F-1108-54F9-CF0EDEEEC464}"/>
              </a:ext>
            </a:extLst>
          </p:cNvPr>
          <p:cNvSpPr txBox="1"/>
          <p:nvPr/>
        </p:nvSpPr>
        <p:spPr>
          <a:xfrm>
            <a:off x="397874" y="597121"/>
            <a:ext cx="11390745" cy="432631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>
                <a:solidFill>
                  <a:srgbClr val="FF0000"/>
                </a:solidFill>
                <a:highlight>
                  <a:srgbClr val="FFFF00"/>
                </a:highlight>
              </a:rPr>
              <a:t>Dias 18 e 25/11 </a:t>
            </a:r>
            <a:r>
              <a:rPr lang="pt-BR" sz="2400" dirty="0">
                <a:solidFill>
                  <a:srgbClr val="FF0000"/>
                </a:solidFill>
              </a:rPr>
              <a:t>- Deverá ser apresentado o trabalho final.</a:t>
            </a:r>
          </a:p>
          <a:p>
            <a:pPr lvl="0" algn="just" defTabSz="1155700">
              <a:spcBef>
                <a:spcPct val="0"/>
              </a:spcBef>
              <a:spcAft>
                <a:spcPct val="35000"/>
              </a:spcAft>
            </a:pPr>
            <a:r>
              <a:rPr lang="pt-BR" sz="2400" dirty="0">
                <a:solidFill>
                  <a:srgbClr val="FF0000"/>
                </a:solidFill>
              </a:rPr>
              <a:t>	O aluno será avaliado por:</a:t>
            </a:r>
          </a:p>
          <a:p>
            <a:pPr marL="342900" lvl="0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Qualidade dos slides apresentados (10% da nota). </a:t>
            </a:r>
          </a:p>
          <a:p>
            <a:pPr marL="342900" lvl="0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Relevância do conteúdo apresentado (sempre considerando que foi estabelecido para compor o trabalho) (10% da nota).</a:t>
            </a:r>
          </a:p>
          <a:p>
            <a:pPr marL="342900" lvl="0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Coerência com a abordagem escolhida (problema x algoritmos x métrica) (10% da nota).</a:t>
            </a:r>
          </a:p>
          <a:p>
            <a:pPr marL="342900" lvl="0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E principalmente pelo domínio da teoria utilizada para a resolução do problema (70% da nota).</a:t>
            </a:r>
          </a:p>
          <a:p>
            <a:pPr marL="800100" lvl="1" indent="-342900" algn="just" defTabSz="11557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</a:rPr>
              <a:t>Também será avaliado neste item a coerência das argumentações do aluno em relação aos questionamentos dos professores. </a:t>
            </a:r>
          </a:p>
        </p:txBody>
      </p:sp>
    </p:spTree>
    <p:extLst>
      <p:ext uri="{BB962C8B-B14F-4D97-AF65-F5344CB8AC3E}">
        <p14:creationId xmlns:p14="http://schemas.microsoft.com/office/powerpoint/2010/main" val="33094039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BD4490C2-611E-455A-B4BD-979530468577}" vid="{C717240B-0B4A-47DC-B19B-2043A138DC7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{27A9A7F8-43BC-43C4-9BDB-3C494410448D}tf56390039_win32</Template>
  <TotalTime>6073</TotalTime>
  <Words>487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Gill Sans MT</vt:lpstr>
      <vt:lpstr>Times New Roman</vt:lpstr>
      <vt:lpstr>Wingdings 2</vt:lpstr>
      <vt:lpstr>Dividendo</vt:lpstr>
      <vt:lpstr>MACHINE LEARNING</vt:lpstr>
      <vt:lpstr>ementa</vt:lpstr>
      <vt:lpstr>cronograma</vt:lpstr>
      <vt:lpstr>cronograma</vt:lpstr>
      <vt:lpstr>cronograma</vt:lpstr>
      <vt:lpstr>REGRAS DE POSTAGEM E APRESENTAÇÃO DO TRABALHO</vt:lpstr>
      <vt:lpstr>REGRAS DE POSTAGEM E APRESENTAÇÃO DO TRABALHO</vt:lpstr>
      <vt:lpstr>REGRAS DE POSTAGEM E APRESENTAÇÃO DO TRABALHO</vt:lpstr>
      <vt:lpstr>REGRAS DE POSTAGEM E APRESENTAÇÃO DO TRABALHO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Anita Fernandes</dc:creator>
  <cp:lastModifiedBy>Anita Maria da Rocha Fernandes</cp:lastModifiedBy>
  <cp:revision>84</cp:revision>
  <dcterms:created xsi:type="dcterms:W3CDTF">2023-08-10T00:22:52Z</dcterms:created>
  <dcterms:modified xsi:type="dcterms:W3CDTF">2025-08-10T15:08:50Z</dcterms:modified>
</cp:coreProperties>
</file>